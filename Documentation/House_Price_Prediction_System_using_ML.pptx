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Houses</c:v>
                </c:pt>
              </c:strCache>
            </c:strRef>
          </c:tx>
          <c:spPr>
            <a:solidFill>
              <a:srgbClr val="0E6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2F4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1-2M</c:v>
                  </c:pt>
                  <c:pt idx="1">
                    <c:v>2-3M</c:v>
                  </c:pt>
                  <c:pt idx="2">
                    <c:v>3-4M</c:v>
                  </c:pt>
                  <c:pt idx="3">
                    <c:v>4-5M</c:v>
                  </c:pt>
                  <c:pt idx="4">
                    <c:v>5-6M</c:v>
                  </c:pt>
                  <c:pt idx="5">
                    <c:v>6M+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95</c:v>
                </c:pt>
                <c:pt idx="2">
                  <c:v>142</c:v>
                </c:pt>
                <c:pt idx="3">
                  <c:v>88</c:v>
                </c:pt>
                <c:pt idx="4">
                  <c:v>41</c:v>
                </c:pt>
                <c:pt idx="5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2F4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AF3FA"/>
        </a:solidFill>
        <a:ln>
          <a:noFill/>
        </a:ln>
        <a:effectLst/>
      </c:spPr>
    </c:plotArea>
    <c:plotVisOnly val="1"/>
    <c:dispBlanksAs val="span"/>
  </c:chart>
  <c:spPr>
    <a:solidFill>
      <a:srgbClr val="EAF3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3FA9E0"/>
            </a:solidFill>
            <a:ln w="25400" cap="flat">
              <a:solidFill>
                <a:srgbClr val="3FA9E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FA9E0"/>
              </a:solidFill>
              <a:ln w="9525" cap="flat">
                <a:solidFill>
                  <a:srgbClr val="3FA9E0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1.9</c:v>
                </c:pt>
                <c:pt idx="1">
                  <c:v>2.4</c:v>
                </c:pt>
                <c:pt idx="2">
                  <c:v>2.7</c:v>
                </c:pt>
                <c:pt idx="3">
                  <c:v>3.1</c:v>
                </c:pt>
                <c:pt idx="4">
                  <c:v>3.5</c:v>
                </c:pt>
                <c:pt idx="5">
                  <c:v>3.9</c:v>
                </c:pt>
                <c:pt idx="6">
                  <c:v>4.4</c:v>
                </c:pt>
                <c:pt idx="7">
                  <c:v>4.8</c:v>
                </c:pt>
                <c:pt idx="8">
                  <c:v>5.3</c:v>
                </c:pt>
                <c:pt idx="9">
                  <c:v>5.9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1.8828212290502793</c:v>
                </c:pt>
                <c:pt idx="1">
                  <c:v>2.378192338387869</c:v>
                </c:pt>
                <c:pt idx="2">
                  <c:v>2.7497206703910617</c:v>
                </c:pt>
                <c:pt idx="3">
                  <c:v>3.1212490023942534</c:v>
                </c:pt>
                <c:pt idx="4">
                  <c:v>3.492777334397446</c:v>
                </c:pt>
                <c:pt idx="5">
                  <c:v>3.8643056664006386</c:v>
                </c:pt>
                <c:pt idx="6">
                  <c:v>4.359676775738228</c:v>
                </c:pt>
                <c:pt idx="7">
                  <c:v>4.855047885075818</c:v>
                </c:pt>
                <c:pt idx="8">
                  <c:v>5.350418994413407</c:v>
                </c:pt>
                <c:pt idx="9">
                  <c:v>5.845790103750997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CEC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EAF3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EAF3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E6B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Area</c:v>
                  </c:pt>
                  <c:pt idx="1">
                    <c:v>Bathrooms</c:v>
                  </c:pt>
                  <c:pt idx="2">
                    <c:v>Stories</c:v>
                  </c:pt>
                  <c:pt idx="3">
                    <c:v>Bedrooms</c:v>
                  </c:pt>
                  <c:pt idx="4">
                    <c:v>Parking</c:v>
                  </c:pt>
                  <c:pt idx="5">
                    <c:v>Air Cond.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0.54</c:v>
                </c:pt>
                <c:pt idx="1">
                  <c:v>0.52</c:v>
                </c:pt>
                <c:pt idx="2">
                  <c:v>0.42</c:v>
                </c:pt>
                <c:pt idx="3">
                  <c:v>0.37</c:v>
                </c:pt>
                <c:pt idx="4">
                  <c:v>0.38</c:v>
                </c:pt>
                <c:pt idx="5">
                  <c:v>0.45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9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AF3FA"/>
        </a:solidFill>
        <a:ln>
          <a:noFill/>
        </a:ln>
        <a:effectLst/>
      </c:spPr>
    </c:plotArea>
    <c:plotVisOnly val="1"/>
    <c:dispBlanksAs val="span"/>
  </c:chart>
  <c:spPr>
    <a:solidFill>
      <a:srgbClr val="EAF3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(M)</c:v>
                </c:pt>
              </c:strCache>
            </c:strRef>
          </c:tx>
          <c:spPr>
            <a:solidFill>
              <a:srgbClr val="3FA9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2.6</c:v>
                </c:pt>
                <c:pt idx="2">
                  <c:v>3.4</c:v>
                </c:pt>
                <c:pt idx="3">
                  <c:v>4.3</c:v>
                </c:pt>
                <c:pt idx="4">
                  <c:v>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9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AF3FA"/>
        </a:solidFill>
        <a:ln>
          <a:noFill/>
        </a:ln>
        <a:effectLst/>
      </c:spPr>
    </c:plotArea>
    <c:plotVisOnly val="1"/>
    <c:dispBlanksAs val="span"/>
  </c:chart>
  <c:spPr>
    <a:solidFill>
      <a:srgbClr val="EAF3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3FA9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2F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A9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2F4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0.84</c:v>
                </c:pt>
                <c:pt idx="2">
                  <c:v>0.89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B2F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C9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AF3FA"/>
        </a:solidFill>
        <a:ln>
          <a:noFill/>
        </a:ln>
        <a:effectLst/>
      </c:spPr>
    </c:plotArea>
    <c:plotVisOnly val="1"/>
    <c:dispBlanksAs val="span"/>
  </c:chart>
  <c:spPr>
    <a:solidFill>
      <a:srgbClr val="EAF3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3FA9E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2F4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A9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F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LR</c:v>
                  </c:pt>
                  <c:pt idx="1">
                    <c:v>RF</c:v>
                  </c:pt>
                  <c:pt idx="2">
                    <c:v>XGB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0.84</c:v>
                </c:pt>
                <c:pt idx="2">
                  <c:v>0.89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0B2F4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C9D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B9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AF3FA"/>
        </a:solidFill>
        <a:ln>
          <a:noFill/>
        </a:ln>
        <a:effectLst/>
      </c:spPr>
    </c:plotArea>
    <c:plotVisOnly val="1"/>
    <c:dispBlanksAs val="span"/>
  </c:chart>
  <c:spPr>
    <a:solidFill>
      <a:srgbClr val="EAF3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52160"/>
            <a:ext cx="822960" cy="1005840"/>
          </a:xfrm>
          <a:prstGeom prst="rect">
            <a:avLst/>
          </a:prstGeom>
          <a:solidFill>
            <a:srgbClr val="0F3A5F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" y="5349240"/>
            <a:ext cx="1188720" cy="1508760"/>
          </a:xfrm>
          <a:prstGeom prst="rect">
            <a:avLst/>
          </a:prstGeom>
          <a:solidFill>
            <a:srgbClr val="123F66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21408" y="4846320"/>
            <a:ext cx="640080" cy="2011680"/>
          </a:xfrm>
          <a:prstGeom prst="rect">
            <a:avLst/>
          </a:prstGeom>
          <a:solidFill>
            <a:srgbClr val="0B2F4F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16352" y="4343400"/>
            <a:ext cx="1463040" cy="2514600"/>
          </a:xfrm>
          <a:prstGeom prst="rect">
            <a:avLst/>
          </a:prstGeom>
          <a:solidFill>
            <a:srgbClr val="153F66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34256" y="5852160"/>
            <a:ext cx="914400" cy="1005840"/>
          </a:xfrm>
          <a:prstGeom prst="rect">
            <a:avLst/>
          </a:prstGeom>
          <a:solidFill>
            <a:srgbClr val="0E3559">
              <a:alpha val="7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03520" y="5349240"/>
            <a:ext cx="1280160" cy="1508760"/>
          </a:xfrm>
          <a:prstGeom prst="rect">
            <a:avLst/>
          </a:prstGeom>
          <a:solidFill>
            <a:srgbClr val="0F3A5F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38544" y="4846320"/>
            <a:ext cx="731520" cy="2011680"/>
          </a:xfrm>
          <a:prstGeom prst="rect">
            <a:avLst/>
          </a:prstGeom>
          <a:solidFill>
            <a:srgbClr val="123F66">
              <a:alpha val="7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4343400"/>
            <a:ext cx="1097280" cy="2514600"/>
          </a:xfrm>
          <a:prstGeom prst="rect">
            <a:avLst/>
          </a:prstGeom>
          <a:solidFill>
            <a:srgbClr val="0B2F4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5852160"/>
            <a:ext cx="914400" cy="1005840"/>
          </a:xfrm>
          <a:prstGeom prst="rect">
            <a:avLst/>
          </a:prstGeom>
          <a:solidFill>
            <a:srgbClr val="153F66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46336" y="5349240"/>
            <a:ext cx="1371600" cy="1508760"/>
          </a:xfrm>
          <a:prstGeom prst="rect">
            <a:avLst/>
          </a:prstGeom>
          <a:solidFill>
            <a:srgbClr val="0E3559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6492240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6153912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5815584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5477256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103120" y="5138928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0" y="4800600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17520" y="6473952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0" y="6135624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0" y="5797296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389120" y="5458968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5120640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4782312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0" y="6455664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6117336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75120" y="5779008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32320" y="5440680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5102352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4764024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503920" y="6437376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61120" y="6099048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418320" y="5760720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875520" y="5422392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332720" y="5084064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789920" y="4745736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1247120" y="6419088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704320" y="6080760"/>
            <a:ext cx="45720" cy="73152"/>
          </a:xfrm>
          <a:prstGeom prst="rect">
            <a:avLst/>
          </a:prstGeom>
          <a:solidFill>
            <a:srgbClr val="3FA9E0">
              <a:alpha val="6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92928" y="594360"/>
            <a:ext cx="1005840" cy="100584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730148"/>
            <a:ext cx="734263" cy="734263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31520" y="19659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&amp; MACHINE LEARNING PROJECT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31520" y="2423160"/>
            <a:ext cx="107286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 System</a:t>
            </a:r>
            <a:endParaRPr lang="en-US" sz="4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4000" dirty="0"/>
          </a:p>
        </p:txBody>
      </p:sp>
      <p:sp>
        <p:nvSpPr>
          <p:cNvPr id="42" name="Shape 39"/>
          <p:cNvSpPr/>
          <p:nvPr/>
        </p:nvSpPr>
        <p:spPr>
          <a:xfrm>
            <a:off x="5090008" y="4160520"/>
            <a:ext cx="2011680" cy="0"/>
          </a:xfrm>
          <a:prstGeom prst="line">
            <a:avLst/>
          </a:prstGeom>
          <a:noFill/>
          <a:ln w="19050">
            <a:solidFill>
              <a:srgbClr val="3FA9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" y="43434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House Price Prediction System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3992728" y="5074920"/>
            <a:ext cx="4206240" cy="1051560"/>
          </a:xfrm>
          <a:prstGeom prst="roundRect">
            <a:avLst>
              <a:gd name="adj" fmla="val 12174"/>
            </a:avLst>
          </a:prstGeom>
          <a:solidFill>
            <a:srgbClr val="0E3A60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084168" y="5212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3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4084168" y="5486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Prasenjeet Gautam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right price of a house manually is difficult — too many factors influence property value at once, and human judgement cannot weigh them consistently.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D7E7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486" y="2749326"/>
            <a:ext cx="280355" cy="28035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6974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interacting factors: area, location, rooms, age, amenities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410712"/>
            <a:ext cx="384048" cy="384048"/>
          </a:xfrm>
          <a:prstGeom prst="ellipse">
            <a:avLst/>
          </a:prstGeom>
          <a:solidFill>
            <a:srgbClr val="D7E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86" y="3462558"/>
            <a:ext cx="280355" cy="2803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41071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rule-of-thumb pricing is inconsistent and error-prone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D7E7F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86" y="4175790"/>
            <a:ext cx="280355" cy="28035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412394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learn patterns from real transaction data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837176"/>
            <a:ext cx="384048" cy="384048"/>
          </a:xfrm>
          <a:prstGeom prst="ellipse">
            <a:avLst/>
          </a:prstGeom>
          <a:solidFill>
            <a:srgbClr val="D7E7F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486" y="4889022"/>
            <a:ext cx="280355" cy="2803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483717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prediction improves accuracy and reduces manual effort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458200" y="3108960"/>
            <a:ext cx="1188720" cy="1188720"/>
          </a:xfrm>
          <a:prstGeom prst="ellipse">
            <a:avLst/>
          </a:prstGeom>
          <a:solidFill>
            <a:srgbClr val="0B2F4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677" y="3269437"/>
            <a:ext cx="867766" cy="86776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0" y="4361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7040880" y="2560320"/>
            <a:ext cx="2011680" cy="1143000"/>
          </a:xfrm>
          <a:prstGeom prst="line">
            <a:avLst/>
          </a:prstGeom>
          <a:noFill/>
          <a:ln w="19050">
            <a:solidFill>
              <a:srgbClr val="D7E7F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052560" y="2103120"/>
            <a:ext cx="320040" cy="1600200"/>
          </a:xfrm>
          <a:prstGeom prst="line">
            <a:avLst/>
          </a:prstGeom>
          <a:noFill/>
          <a:ln w="19050">
            <a:solidFill>
              <a:srgbClr val="D7E7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052560" y="2560320"/>
            <a:ext cx="2606040" cy="1143000"/>
          </a:xfrm>
          <a:prstGeom prst="line">
            <a:avLst/>
          </a:prstGeom>
          <a:noFill/>
          <a:ln w="19050">
            <a:solidFill>
              <a:srgbClr val="D7E7F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858000" y="3703320"/>
            <a:ext cx="2194560" cy="1188720"/>
          </a:xfrm>
          <a:prstGeom prst="line">
            <a:avLst/>
          </a:prstGeom>
          <a:noFill/>
          <a:ln w="19050">
            <a:solidFill>
              <a:srgbClr val="D7E7F5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052560" y="3703320"/>
            <a:ext cx="2743200" cy="1188720"/>
          </a:xfrm>
          <a:prstGeom prst="line">
            <a:avLst/>
          </a:prstGeom>
          <a:noFill/>
          <a:ln w="19050">
            <a:solidFill>
              <a:srgbClr val="D7E7F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052560" y="3703320"/>
            <a:ext cx="320040" cy="1965960"/>
          </a:xfrm>
          <a:prstGeom prst="line">
            <a:avLst/>
          </a:prstGeom>
          <a:noFill/>
          <a:ln w="19050">
            <a:solidFill>
              <a:srgbClr val="D7E7F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766560" y="2286000"/>
            <a:ext cx="548640" cy="548640"/>
          </a:xfrm>
          <a:prstGeom prst="ellipse">
            <a:avLst/>
          </a:prstGeom>
          <a:solidFill>
            <a:srgbClr val="EAF3F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626" y="2360066"/>
            <a:ext cx="400507" cy="40050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446520" y="2862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9098280" y="1828800"/>
            <a:ext cx="548640" cy="548640"/>
          </a:xfrm>
          <a:prstGeom prst="ellipse">
            <a:avLst/>
          </a:prstGeom>
          <a:solidFill>
            <a:srgbClr val="EAF3FA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2346" y="1902866"/>
            <a:ext cx="400507" cy="400507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778240" y="2404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11384280" y="2286000"/>
            <a:ext cx="548640" cy="548640"/>
          </a:xfrm>
          <a:prstGeom prst="ellipse">
            <a:avLst/>
          </a:prstGeom>
          <a:solidFill>
            <a:srgbClr val="EAF3FA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58346" y="2360066"/>
            <a:ext cx="400507" cy="400507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064240" y="2862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6583680" y="4617720"/>
            <a:ext cx="548640" cy="548640"/>
          </a:xfrm>
          <a:prstGeom prst="ellipse">
            <a:avLst/>
          </a:prstGeom>
          <a:solidFill>
            <a:srgbClr val="EAF3FA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7746" y="4691786"/>
            <a:ext cx="400507" cy="400507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63640" y="5193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11521440" y="4617720"/>
            <a:ext cx="548640" cy="548640"/>
          </a:xfrm>
          <a:prstGeom prst="ellipse">
            <a:avLst/>
          </a:prstGeom>
          <a:solidFill>
            <a:srgbClr val="EAF3FA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95506" y="4691786"/>
            <a:ext cx="400507" cy="400507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1201400" y="51937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9098280" y="5394960"/>
            <a:ext cx="548640" cy="548640"/>
          </a:xfrm>
          <a:prstGeom prst="ellipse">
            <a:avLst/>
          </a:prstGeom>
          <a:solidFill>
            <a:srgbClr val="EAF3FA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2346" y="5469026"/>
            <a:ext cx="400507" cy="400507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8778240" y="5971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Predict house prices based on factors such as area, location, number of rooms, age of property, and available amenities.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67462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773375"/>
            <a:ext cx="534010" cy="5340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2496312"/>
            <a:ext cx="36576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house prices accurately using Machine Learning models.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2331720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267462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95" y="2773375"/>
            <a:ext cx="534010" cy="5340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496312"/>
            <a:ext cx="36576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complete ML lifecycle — from raw data to deployment.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041648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384548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4483303"/>
            <a:ext cx="534010" cy="5340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206240"/>
            <a:ext cx="36576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multiple regression algorithms for best performance.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89320" y="4041648"/>
            <a:ext cx="512064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4384548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95" y="4483303"/>
            <a:ext cx="534010" cy="5340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06240"/>
            <a:ext cx="365760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best-performing model as a live Streamlit web app.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783080"/>
            <a:ext cx="777240" cy="77724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607" y="1888007"/>
            <a:ext cx="567385" cy="5673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1691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Housing Prices Dataset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337560"/>
            <a:ext cx="777240" cy="77724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07" y="3442487"/>
            <a:ext cx="567385" cy="5673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892040"/>
            <a:ext cx="777240" cy="77724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07" y="4996967"/>
            <a:ext cx="567385" cy="5673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892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input features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26280" y="1417320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77256" y="152704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916" y="1593708"/>
            <a:ext cx="360456" cy="360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99432" y="209397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7013448" y="1417320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964424" y="152704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1084" y="1593708"/>
            <a:ext cx="360456" cy="360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209397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500616" y="1417320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451592" y="152704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8252" y="1593708"/>
            <a:ext cx="360456" cy="360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73768" y="2093976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526280" y="2633472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5477256" y="27432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916" y="2809860"/>
            <a:ext cx="360456" cy="360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599432" y="33101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7013448" y="2633472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7964424" y="27432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1084" y="2809860"/>
            <a:ext cx="360456" cy="360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086600" y="33101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Road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9500616" y="2633472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10451592" y="274320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8252" y="2809860"/>
            <a:ext cx="360456" cy="36045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573768" y="331012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Room</a:t>
            </a:r>
            <a:endParaRPr lang="en-US" sz="1050" dirty="0"/>
          </a:p>
        </p:txBody>
      </p:sp>
      <p:sp>
        <p:nvSpPr>
          <p:cNvPr id="42" name="Shape 31"/>
          <p:cNvSpPr/>
          <p:nvPr/>
        </p:nvSpPr>
        <p:spPr>
          <a:xfrm>
            <a:off x="4526280" y="3849624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43" name="Shape 32"/>
          <p:cNvSpPr/>
          <p:nvPr/>
        </p:nvSpPr>
        <p:spPr>
          <a:xfrm>
            <a:off x="5477256" y="395935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3916" y="4026012"/>
            <a:ext cx="360456" cy="36045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4599432" y="452628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Basement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7013448" y="3849624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47" name="Shape 35"/>
          <p:cNvSpPr/>
          <p:nvPr/>
        </p:nvSpPr>
        <p:spPr>
          <a:xfrm>
            <a:off x="7964424" y="395935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1084" y="4026012"/>
            <a:ext cx="360456" cy="36045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7086600" y="452628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Water Heating</a:t>
            </a:r>
            <a:endParaRPr lang="en-US" sz="1050" dirty="0"/>
          </a:p>
        </p:txBody>
      </p:sp>
      <p:sp>
        <p:nvSpPr>
          <p:cNvPr id="50" name="Shape 37"/>
          <p:cNvSpPr/>
          <p:nvPr/>
        </p:nvSpPr>
        <p:spPr>
          <a:xfrm>
            <a:off x="9500616" y="3849624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10451592" y="3959352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18252" y="4026012"/>
            <a:ext cx="360456" cy="360456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9573768" y="452628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Conditioning</a:t>
            </a:r>
            <a:endParaRPr lang="en-US" sz="1050" dirty="0"/>
          </a:p>
        </p:txBody>
      </p:sp>
      <p:sp>
        <p:nvSpPr>
          <p:cNvPr id="54" name="Shape 40"/>
          <p:cNvSpPr/>
          <p:nvPr/>
        </p:nvSpPr>
        <p:spPr>
          <a:xfrm>
            <a:off x="4526280" y="5065776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55" name="Shape 41"/>
          <p:cNvSpPr/>
          <p:nvPr/>
        </p:nvSpPr>
        <p:spPr>
          <a:xfrm>
            <a:off x="5477256" y="51755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43916" y="5242164"/>
            <a:ext cx="360456" cy="360456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4599432" y="57424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1050" dirty="0"/>
          </a:p>
        </p:txBody>
      </p:sp>
      <p:sp>
        <p:nvSpPr>
          <p:cNvPr id="58" name="Shape 43"/>
          <p:cNvSpPr/>
          <p:nvPr/>
        </p:nvSpPr>
        <p:spPr>
          <a:xfrm>
            <a:off x="7013448" y="5065776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59" name="Shape 44"/>
          <p:cNvSpPr/>
          <p:nvPr/>
        </p:nvSpPr>
        <p:spPr>
          <a:xfrm>
            <a:off x="7964424" y="51755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1084" y="5242164"/>
            <a:ext cx="360456" cy="360456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7086600" y="57424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Area</a:t>
            </a:r>
            <a:endParaRPr lang="en-US" sz="1050" dirty="0"/>
          </a:p>
        </p:txBody>
      </p:sp>
      <p:sp>
        <p:nvSpPr>
          <p:cNvPr id="62" name="Shape 46"/>
          <p:cNvSpPr/>
          <p:nvPr/>
        </p:nvSpPr>
        <p:spPr>
          <a:xfrm>
            <a:off x="9500616" y="5065776"/>
            <a:ext cx="2395728" cy="1124712"/>
          </a:xfrm>
          <a:prstGeom prst="roundRect">
            <a:avLst>
              <a:gd name="adj" fmla="val 731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63" name="Shape 47"/>
          <p:cNvSpPr/>
          <p:nvPr/>
        </p:nvSpPr>
        <p:spPr>
          <a:xfrm>
            <a:off x="10451592" y="517550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18252" y="5242164"/>
            <a:ext cx="360456" cy="360456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9573768" y="574243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 Status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48360" y="18288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4180" y="199339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0590" y="2079803"/>
            <a:ext cx="467258" cy="4672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808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39800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368" y="2395728"/>
            <a:ext cx="219456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36112" y="18288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81932" y="199339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342" y="2079803"/>
            <a:ext cx="467258" cy="4672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584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727552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2395728"/>
            <a:ext cx="219456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23864" y="18288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69684" y="199339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094" y="2079803"/>
            <a:ext cx="467258" cy="46725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3359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315304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872" y="2395728"/>
            <a:ext cx="219456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811616" y="182880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9657436" y="199339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3846" y="2079803"/>
            <a:ext cx="467258" cy="46725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92134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903056" y="2697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1048360" y="4160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1894180" y="432511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0590" y="4411523"/>
            <a:ext cx="467258" cy="46725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58088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23"/>
          <p:cNvSpPr/>
          <p:nvPr/>
        </p:nvSpPr>
        <p:spPr>
          <a:xfrm>
            <a:off x="1139800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3398368" y="4727448"/>
            <a:ext cx="219456" cy="237744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3636112" y="4160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4481932" y="432511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342" y="4411523"/>
            <a:ext cx="467258" cy="46725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374584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Text 27"/>
          <p:cNvSpPr/>
          <p:nvPr/>
        </p:nvSpPr>
        <p:spPr>
          <a:xfrm>
            <a:off x="3727552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5986120" y="4727448"/>
            <a:ext cx="219456" cy="237744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6223864" y="4160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42" name="Shape 29"/>
          <p:cNvSpPr/>
          <p:nvPr/>
        </p:nvSpPr>
        <p:spPr>
          <a:xfrm>
            <a:off x="7069684" y="432511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6094" y="4411523"/>
            <a:ext cx="467258" cy="467258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6333592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31"/>
          <p:cNvSpPr/>
          <p:nvPr/>
        </p:nvSpPr>
        <p:spPr>
          <a:xfrm>
            <a:off x="6315304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50" dirty="0"/>
          </a:p>
        </p:txBody>
      </p:sp>
      <p:pic>
        <p:nvPicPr>
          <p:cNvPr id="4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flipH="1">
            <a:off x="8573872" y="4727448"/>
            <a:ext cx="219456" cy="237744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811616" y="4160520"/>
            <a:ext cx="2331720" cy="137160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48" name="Shape 33"/>
          <p:cNvSpPr/>
          <p:nvPr/>
        </p:nvSpPr>
        <p:spPr>
          <a:xfrm>
            <a:off x="9657436" y="4325112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4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3846" y="4411523"/>
            <a:ext cx="467258" cy="467258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8921344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1" name="Text 35"/>
          <p:cNvSpPr/>
          <p:nvPr/>
        </p:nvSpPr>
        <p:spPr>
          <a:xfrm>
            <a:off x="8903056" y="5029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52" name="Shape 36"/>
          <p:cNvSpPr/>
          <p:nvPr/>
        </p:nvSpPr>
        <p:spPr>
          <a:xfrm>
            <a:off x="11125048" y="2514600"/>
            <a:ext cx="0" cy="2331720"/>
          </a:xfrm>
          <a:prstGeom prst="line">
            <a:avLst/>
          </a:prstGeom>
          <a:noFill/>
          <a:ln w="19050">
            <a:solidFill>
              <a:srgbClr val="0E6BA8"/>
            </a:solidFill>
            <a:prstDash val="dash"/>
          </a:ln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0997032" y="3995928"/>
            <a:ext cx="237744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Cleaning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54584" y="16916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49528" y="1947672"/>
            <a:ext cx="694944" cy="694944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45" y="2041489"/>
            <a:ext cx="507309" cy="50730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6024" y="27706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64312" y="300837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0888" y="35661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every column for nulls before any modeling begins.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560" y="2944368"/>
            <a:ext cx="14630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04008" y="16916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98952" y="1947672"/>
            <a:ext cx="694944" cy="694944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769" y="2041489"/>
            <a:ext cx="507309" cy="50730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95448" y="27706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913736" y="300837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Records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950312" y="35661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repeated rows to avoid biasing the model.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984" y="2944368"/>
            <a:ext cx="146304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53432" y="16916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48376" y="1947672"/>
            <a:ext cx="694944" cy="694944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2193" y="2041489"/>
            <a:ext cx="507309" cy="50730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44872" y="27706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163160" y="300837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5199736" y="35661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boxplots to spot and treat extreme price/area values.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7408" y="2944368"/>
            <a:ext cx="146304" cy="23774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302856" y="16916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997800" y="1947672"/>
            <a:ext cx="694944" cy="694944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1617" y="2041489"/>
            <a:ext cx="507309" cy="50730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394296" y="27706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31" name="Text 22"/>
          <p:cNvSpPr/>
          <p:nvPr/>
        </p:nvSpPr>
        <p:spPr>
          <a:xfrm>
            <a:off x="7412584" y="300837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Variables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7449160" y="35661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categories using LabelEncoder.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6832" y="2944368"/>
            <a:ext cx="146304" cy="237744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552280" y="1691640"/>
            <a:ext cx="2084832" cy="2743200"/>
          </a:xfrm>
          <a:prstGeom prst="roundRect">
            <a:avLst>
              <a:gd name="adj" fmla="val 3947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10247224" y="1947672"/>
            <a:ext cx="694944" cy="694944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1041" y="2041489"/>
            <a:ext cx="507309" cy="507309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9643720" y="2770632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9662008" y="3008376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Numerical Data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9698584" y="35661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structure features for ML algorithms.</a:t>
            </a:r>
            <a:endParaRPr lang="en-US" sz="950" dirty="0"/>
          </a:p>
        </p:txBody>
      </p:sp>
      <p:sp>
        <p:nvSpPr>
          <p:cNvPr id="40" name="Text 29"/>
          <p:cNvSpPr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consistent data is the foundation of every reliable Machine Learning model.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House Prices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182880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263640" y="14173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5270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vs Price</a:t>
            </a:r>
            <a:endParaRPr lang="en-US" sz="12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446520" y="182880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388620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77240" y="3995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Price</a:t>
            </a:r>
            <a:endParaRPr lang="en-US" sz="1200" dirty="0"/>
          </a:p>
        </p:txBody>
      </p:sp>
      <p:graphicFrame>
        <p:nvGraphicFramePr>
          <p:cNvPr id="14" name="Chart 2" descr=""/>
          <p:cNvGraphicFramePr/>
          <p:nvPr/>
        </p:nvGraphicFramePr>
        <p:xfrm>
          <a:off x="731520" y="429768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Shape 10"/>
          <p:cNvSpPr/>
          <p:nvPr/>
        </p:nvSpPr>
        <p:spPr>
          <a:xfrm>
            <a:off x="6263640" y="388620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92240" y="39959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vs Average Price</a:t>
            </a:r>
            <a:endParaRPr lang="en-US" sz="1200" dirty="0"/>
          </a:p>
        </p:txBody>
      </p:sp>
      <p:graphicFrame>
        <p:nvGraphicFramePr>
          <p:cNvPr id="17" name="Chart 3" descr=""/>
          <p:cNvGraphicFramePr/>
          <p:nvPr/>
        </p:nvGraphicFramePr>
        <p:xfrm>
          <a:off x="6446520" y="4297680"/>
          <a:ext cx="5029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Models Compared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6608" y="15544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72488" y="178308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243" y="1881835"/>
            <a:ext cx="534010" cy="5340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29488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75208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 baseline that fits a straight-line relationship between features and price.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176" y="2601468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04208" y="15544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730088" y="178308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843" y="1881835"/>
            <a:ext cx="534010" cy="5340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7088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632808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captures non-linear patterns and feature interactions.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776" y="2601468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61808" y="1554480"/>
            <a:ext cx="3383280" cy="2331720"/>
          </a:xfrm>
          <a:prstGeom prst="roundRect">
            <a:avLst>
              <a:gd name="adj" fmla="val 3529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387688" y="178308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443" y="1881835"/>
            <a:ext cx="534010" cy="53401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44688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290408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that iteratively correct errors for top-tier predictive accuracy.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31520" y="41148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Model Complexity → Increasing Predictive Performance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46608" y="4480560"/>
            <a:ext cx="10698480" cy="1417320"/>
          </a:xfrm>
          <a:prstGeom prst="roundRect">
            <a:avLst>
              <a:gd name="adj" fmla="val 580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graphicFrame>
        <p:nvGraphicFramePr>
          <p:cNvPr id="25" name="Chart 0" descr=""/>
          <p:cNvGraphicFramePr/>
          <p:nvPr/>
        </p:nvGraphicFramePr>
        <p:xfrm>
          <a:off x="1020928" y="4617720"/>
          <a:ext cx="101498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with the highest R² Score and lowest error metrics (MAE, RMSE) was selected as the final predictor.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7863840" cy="1737360"/>
        </p:xfrm>
        <a:graphic>
          <a:graphicData uri="http://schemas.openxmlformats.org/drawingml/2006/table">
            <a:tbl>
              <a:tblPr/>
              <a:tblGrid>
                <a:gridCol w="3291840"/>
                <a:gridCol w="1527048"/>
                <a:gridCol w="1527048"/>
                <a:gridCol w="152704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F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Regressor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32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Regressor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8F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6E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098280" y="2103120"/>
            <a:ext cx="457200" cy="457200"/>
          </a:xfrm>
          <a:prstGeom prst="ellipse">
            <a:avLst/>
          </a:prstGeom>
          <a:solidFill>
            <a:srgbClr val="E5F6E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0002" y="2164842"/>
            <a:ext cx="333756" cy="333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4692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XGBoost Regressor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823960" y="2743200"/>
            <a:ext cx="2834640" cy="2286000"/>
          </a:xfrm>
          <a:prstGeom prst="roundRect">
            <a:avLst>
              <a:gd name="adj" fmla="val 360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9006840" y="2852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by Model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8961120" y="3154680"/>
          <a:ext cx="256032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/>
          <p:nvPr/>
        </p:nvSpPr>
        <p:spPr>
          <a:xfrm>
            <a:off x="82296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achieved the lowest MAE &amp; RMSE and the highest R² score, making it the most reliable model for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51" y="1640891"/>
            <a:ext cx="467258" cy="4672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361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Trained Model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71600" y="18470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best-performing model (XGBoost) is serialized using Joblib for reuse.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51760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1" y="273817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Streamlit App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71600" y="29443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Python web app collects house details from the user.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1" y="3835451"/>
            <a:ext cx="467258" cy="4672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3075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71600" y="40416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loads the saved model and returns the predicted price instantly.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80760" y="1554480"/>
            <a:ext cx="5532120" cy="4617720"/>
          </a:xfrm>
          <a:prstGeom prst="roundRect">
            <a:avLst>
              <a:gd name="adj" fmla="val 1980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09360" y="17830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0B2F4F"/>
          </a:solidFill>
          <a:ln/>
        </p:spPr>
      </p:sp>
      <p:sp>
        <p:nvSpPr>
          <p:cNvPr id="20" name="Text 15"/>
          <p:cNvSpPr/>
          <p:nvPr/>
        </p:nvSpPr>
        <p:spPr>
          <a:xfrm>
            <a:off x="6492240" y="1783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Predictor — Streamlit App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492240" y="242316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(sq ft)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92240" y="2670048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CE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29400" y="26700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3500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492240" y="313639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92240" y="3383280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CE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629400" y="33832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492240" y="38496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492240" y="4096512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CEC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629400" y="409651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492240" y="456285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 Status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492240" y="4809744"/>
            <a:ext cx="47091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CEC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29400" y="480974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Semi-Furnished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492240" y="536752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E6BA8"/>
          </a:solidFill>
          <a:ln/>
        </p:spPr>
      </p:sp>
      <p:sp>
        <p:nvSpPr>
          <p:cNvPr id="34" name="Text 29"/>
          <p:cNvSpPr/>
          <p:nvPr/>
        </p:nvSpPr>
        <p:spPr>
          <a:xfrm>
            <a:off x="6492240" y="53675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Price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8503920" y="5321808"/>
            <a:ext cx="2697480" cy="548640"/>
          </a:xfrm>
          <a:prstGeom prst="roundRect">
            <a:avLst>
              <a:gd name="adj" fmla="val 13333"/>
            </a:avLst>
          </a:prstGeom>
          <a:solidFill>
            <a:srgbClr val="E5F6ED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8641080" y="532180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Price: ₹ 78.4 Lakhs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6355080" y="58064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placeholder — insert live application UI here 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3F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0E3A6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886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407615"/>
            <a:ext cx="534010" cy="5340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084832"/>
            <a:ext cx="36576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successfully predicts house prices from key property features.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89320" y="192024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0E3A60"/>
          </a:solidFill>
          <a:ln/>
        </p:spPr>
      </p:sp>
      <p:sp>
        <p:nvSpPr>
          <p:cNvPr id="11" name="Shape 8"/>
          <p:cNvSpPr/>
          <p:nvPr/>
        </p:nvSpPr>
        <p:spPr>
          <a:xfrm>
            <a:off x="6263640" y="230886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395" y="2407615"/>
            <a:ext cx="534010" cy="5340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084832"/>
            <a:ext cx="36576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data preprocessing significantly improved overall model quality.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0E3A6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9194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4190695"/>
            <a:ext cx="534010" cy="5340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867912"/>
            <a:ext cx="36576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tested models, XGBoost Regressor achieved the highest prediction accuracy.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989320" y="370332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0E3A60"/>
          </a:solidFill>
          <a:ln/>
        </p:spPr>
      </p:sp>
      <p:sp>
        <p:nvSpPr>
          <p:cNvPr id="19" name="Shape 14"/>
          <p:cNvSpPr/>
          <p:nvPr/>
        </p:nvSpPr>
        <p:spPr>
          <a:xfrm>
            <a:off x="6263640" y="4091940"/>
            <a:ext cx="731520" cy="73152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395" y="4190695"/>
            <a:ext cx="534010" cy="5340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23760" y="3867912"/>
            <a:ext cx="36576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7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application provides a simple, user-friendly prediction interface.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11535" y="6437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B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 |  ML PROJECT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3100" y="1920240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511" y="2006651"/>
            <a:ext cx="467258" cy="46725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larger, real-world real-estate datasets for broader coverage.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24528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18988" y="1920240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399" y="2006651"/>
            <a:ext cx="467258" cy="4672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prediction accuracy further using Deep Learning models.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00416" y="169164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94876" y="1920240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287" y="200665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29016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property listings from live market feeds.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04488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43100" y="4133088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511" y="4219499"/>
            <a:ext cx="467258" cy="4672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" y="49103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application on scalable cloud platforms.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224528" y="3904488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618988" y="4133088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399" y="4219499"/>
            <a:ext cx="467258" cy="46725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53128" y="49103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companion mobile application for wider access.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900416" y="3904488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EAF3FA"/>
          </a:solidFill>
          <a:ln/>
          <a:effectLst>
            <a:outerShdw sx="100000" sy="100000" kx="0" ky="0" algn="bl" rotWithShape="0" blurRad="88900" dist="25400" dir="5400000">
              <a:srgbClr val="0B2F4F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294876" y="4133088"/>
            <a:ext cx="640080" cy="64008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287" y="4219499"/>
            <a:ext cx="467258" cy="46725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129016" y="491032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AI-based property recommendation systems for users.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System using Machine Learning</dc:title>
  <dc:subject>PptxGenJS Presentation</dc:subject>
  <dc:creator>Prasenjeet Gautam</dc:creator>
  <cp:lastModifiedBy>Prasenjeet Gautam</cp:lastModifiedBy>
  <cp:revision>1</cp:revision>
  <dcterms:created xsi:type="dcterms:W3CDTF">2026-06-30T11:45:06Z</dcterms:created>
  <dcterms:modified xsi:type="dcterms:W3CDTF">2026-06-30T11:45:06Z</dcterms:modified>
</cp:coreProperties>
</file>